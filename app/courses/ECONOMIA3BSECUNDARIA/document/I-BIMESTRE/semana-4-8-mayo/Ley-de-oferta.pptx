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8" r:id="rId1"/>
  </p:sldMasterIdLst>
  <p:sldIdLst>
    <p:sldId id="259" r:id="rId2"/>
    <p:sldId id="256" r:id="rId3"/>
    <p:sldId id="257" r:id="rId4"/>
    <p:sldId id="258" r:id="rId5"/>
    <p:sldId id="261" r:id="rId6"/>
    <p:sldId id="260" r:id="rId7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29" autoAdjust="0"/>
    <p:restoredTop sz="94494" autoAdjust="0"/>
  </p:normalViewPr>
  <p:slideViewPr>
    <p:cSldViewPr snapToGrid="0">
      <p:cViewPr varScale="1">
        <p:scale>
          <a:sx n="74" d="100"/>
          <a:sy n="74" d="100"/>
        </p:scale>
        <p:origin x="360" y="72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 smtClean="0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808D-58F5-4EB8-9F05-9425FF9CDE00}" type="datetimeFigureOut">
              <a:rPr lang="es-ES" smtClean="0"/>
              <a:t>01/05/2020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CA8F0266-1124-405B-9CA9-9625930275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13739530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808D-58F5-4EB8-9F05-9425FF9CDE00}" type="datetimeFigureOut">
              <a:rPr lang="es-ES" smtClean="0"/>
              <a:t>01/05/2020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F0266-1124-405B-9CA9-9625930275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7351963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808D-58F5-4EB8-9F05-9425FF9CDE00}" type="datetimeFigureOut">
              <a:rPr lang="es-ES" smtClean="0"/>
              <a:t>01/05/2020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A8F0266-1124-405B-9CA9-9625930275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4281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808D-58F5-4EB8-9F05-9425FF9CDE00}" type="datetimeFigureOut">
              <a:rPr lang="es-ES" smtClean="0"/>
              <a:t>01/05/2020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A8F0266-1124-405B-9CA9-9625930275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129620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808D-58F5-4EB8-9F05-9425FF9CDE00}" type="datetimeFigureOut">
              <a:rPr lang="es-ES" smtClean="0"/>
              <a:t>01/05/2020</a:t>
            </a:fld>
            <a:endParaRPr lang="es-E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CA8F0266-1124-405B-9CA9-9625930275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41369087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808D-58F5-4EB8-9F05-9425FF9CDE00}" type="datetimeFigureOut">
              <a:rPr lang="es-ES" smtClean="0"/>
              <a:t>01/05/2020</a:t>
            </a:fld>
            <a:endParaRPr lang="es-E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F0266-1124-405B-9CA9-9625930275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82184983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808D-58F5-4EB8-9F05-9425FF9CDE00}" type="datetimeFigureOut">
              <a:rPr lang="es-ES" smtClean="0"/>
              <a:t>01/05/2020</a:t>
            </a:fld>
            <a:endParaRPr lang="es-E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F0266-1124-405B-9CA9-9625930275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3763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808D-58F5-4EB8-9F05-9425FF9CDE00}" type="datetimeFigureOut">
              <a:rPr lang="es-ES" smtClean="0"/>
              <a:t>01/05/2020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F0266-1124-405B-9CA9-9625930275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636885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 smtClean="0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808D-58F5-4EB8-9F05-9425FF9CDE00}" type="datetimeFigureOut">
              <a:rPr lang="es-ES" smtClean="0"/>
              <a:t>01/05/2020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A8F0266-1124-405B-9CA9-9625930275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7503235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808D-58F5-4EB8-9F05-9425FF9CDE00}" type="datetimeFigureOut">
              <a:rPr lang="es-ES" smtClean="0"/>
              <a:t>01/05/2020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A8F0266-1124-405B-9CA9-9625930275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40268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808D-58F5-4EB8-9F05-9425FF9CDE00}" type="datetimeFigureOut">
              <a:rPr lang="es-ES" smtClean="0"/>
              <a:t>01/05/2020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CA8F0266-1124-405B-9CA9-96259302759A}" type="slidenum">
              <a:rPr lang="es-ES" smtClean="0"/>
              <a:t>‹Nº›</a:t>
            </a:fld>
            <a:endParaRPr lang="es-E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45806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808D-58F5-4EB8-9F05-9425FF9CDE00}" type="datetimeFigureOut">
              <a:rPr lang="es-ES" smtClean="0"/>
              <a:t>01/05/2020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A8F0266-1124-405B-9CA9-9625930275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8217223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808D-58F5-4EB8-9F05-9425FF9CDE00}" type="datetimeFigureOut">
              <a:rPr lang="es-ES" smtClean="0"/>
              <a:t>01/05/2020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A8F0266-1124-405B-9CA9-96259302759A}" type="slidenum">
              <a:rPr lang="es-ES" smtClean="0"/>
              <a:t>‹Nº›</a:t>
            </a:fld>
            <a:endParaRPr lang="es-E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6593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 smtClean="0"/>
              <a:t>Haga clic para modificar el estilo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 smtClean="0"/>
              <a:t>Haga clic para modificar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808D-58F5-4EB8-9F05-9425FF9CDE00}" type="datetimeFigureOut">
              <a:rPr lang="es-ES" smtClean="0"/>
              <a:t>01/05/2020</a:t>
            </a:fld>
            <a:endParaRPr lang="es-E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CA8F0266-1124-405B-9CA9-9625930275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4559198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808D-58F5-4EB8-9F05-9425FF9CDE00}" type="datetimeFigureOut">
              <a:rPr lang="es-ES" smtClean="0"/>
              <a:t>01/05/2020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F0266-1124-405B-9CA9-9625930275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22479159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CD808D-58F5-4EB8-9F05-9425FF9CDE00}" type="datetimeFigureOut">
              <a:rPr lang="es-ES" smtClean="0"/>
              <a:t>01/05/2020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8F0266-1124-405B-9CA9-9625930275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35030711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 smtClean="0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smtClean="0"/>
              <a:t>Haga clic para modificar el estilo de texto del patrón</a:t>
            </a:r>
          </a:p>
          <a:p>
            <a:pPr lvl="1"/>
            <a:r>
              <a:rPr lang="es-ES" smtClean="0"/>
              <a:t>Segundo nivel</a:t>
            </a:r>
          </a:p>
          <a:p>
            <a:pPr lvl="2"/>
            <a:r>
              <a:rPr lang="es-ES" smtClean="0"/>
              <a:t>Tercer nivel</a:t>
            </a:r>
          </a:p>
          <a:p>
            <a:pPr lvl="3"/>
            <a:r>
              <a:rPr lang="es-ES" smtClean="0"/>
              <a:t>Cuarto nivel</a:t>
            </a:r>
          </a:p>
          <a:p>
            <a:pPr lvl="4"/>
            <a:r>
              <a:rPr lang="es-ES" smtClean="0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CD808D-58F5-4EB8-9F05-9425FF9CDE00}" type="datetimeFigureOut">
              <a:rPr lang="es-ES" smtClean="0"/>
              <a:t>01/05/2020</a:t>
            </a:fld>
            <a:endParaRPr lang="es-E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CA8F0266-1124-405B-9CA9-96259302759A}" type="slidenum">
              <a:rPr lang="es-ES" smtClean="0"/>
              <a:t>‹Nº›</a:t>
            </a:fld>
            <a:endParaRPr lang="es-ES"/>
          </a:p>
        </p:txBody>
      </p:sp>
    </p:spTree>
    <p:extLst>
      <p:ext uri="{BB962C8B-B14F-4D97-AF65-F5344CB8AC3E}">
        <p14:creationId xmlns:p14="http://schemas.microsoft.com/office/powerpoint/2010/main" val="16835702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9" r:id="rId1"/>
    <p:sldLayoutId id="2147483730" r:id="rId2"/>
    <p:sldLayoutId id="2147483731" r:id="rId3"/>
    <p:sldLayoutId id="2147483732" r:id="rId4"/>
    <p:sldLayoutId id="2147483733" r:id="rId5"/>
    <p:sldLayoutId id="2147483734" r:id="rId6"/>
    <p:sldLayoutId id="2147483735" r:id="rId7"/>
    <p:sldLayoutId id="2147483736" r:id="rId8"/>
    <p:sldLayoutId id="2147483737" r:id="rId9"/>
    <p:sldLayoutId id="2147483738" r:id="rId10"/>
    <p:sldLayoutId id="2147483739" r:id="rId11"/>
    <p:sldLayoutId id="2147483740" r:id="rId12"/>
    <p:sldLayoutId id="2147483741" r:id="rId13"/>
    <p:sldLayoutId id="2147483742" r:id="rId14"/>
    <p:sldLayoutId id="2147483743" r:id="rId15"/>
    <p:sldLayoutId id="214748374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 idx="4294967295"/>
          </p:nvPr>
        </p:nvSpPr>
        <p:spPr>
          <a:xfrm rot="201525">
            <a:off x="2464903" y="1342143"/>
            <a:ext cx="8249479" cy="3617844"/>
          </a:xfrm>
        </p:spPr>
        <p:txBody>
          <a:bodyPr>
            <a:prstTxWarp prst="textArchUp">
              <a:avLst/>
            </a:prstTxWarp>
            <a:normAutofit/>
          </a:bodyPr>
          <a:lstStyle/>
          <a:p>
            <a:r>
              <a:rPr lang="es-ES" dirty="0" smtClean="0">
                <a:ln>
                  <a:solidFill>
                    <a:schemeClr val="accent2">
                      <a:lumMod val="75000"/>
                    </a:schemeClr>
                  </a:solidFill>
                </a:ln>
                <a:solidFill>
                  <a:schemeClr val="accent1">
                    <a:lumMod val="75000"/>
                  </a:schemeClr>
                </a:solidFill>
              </a:rPr>
              <a:t>   </a:t>
            </a:r>
            <a:r>
              <a:rPr lang="es-ES" sz="9800" u="sng" dirty="0" smtClean="0">
                <a:ln>
                  <a:solidFill>
                    <a:schemeClr val="accent2">
                      <a:lumMod val="5000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effectLst>
                  <a:outerShdw blurRad="60007" dist="310007" dir="7680000" sy="30000" kx="1300200" algn="ctr" rotWithShape="0">
                    <a:prstClr val="black">
                      <a:alpha val="32000"/>
                    </a:prstClr>
                  </a:outerShdw>
                </a:effectLst>
                <a:latin typeface="Century Schoolbook" pitchFamily="18" charset="0"/>
              </a:rPr>
              <a:t>Ley  de  oferta</a:t>
            </a:r>
            <a:endParaRPr lang="es-PE" sz="9800" u="sng" dirty="0">
              <a:ln>
                <a:solidFill>
                  <a:schemeClr val="accent2">
                    <a:lumMod val="50000"/>
                  </a:schemeClr>
                </a:solidFill>
              </a:ln>
              <a:solidFill>
                <a:schemeClr val="accent2">
                  <a:lumMod val="60000"/>
                  <a:lumOff val="40000"/>
                </a:schemeClr>
              </a:solidFill>
              <a:effectLst>
                <a:outerShdw blurRad="60007" dist="310007" dir="7680000" sy="30000" kx="1300200" algn="ctr" rotWithShape="0">
                  <a:prstClr val="black">
                    <a:alpha val="32000"/>
                  </a:prstClr>
                </a:outerShdw>
              </a:effectLst>
              <a:latin typeface="Century Schoolbook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3035673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914400" y="195821"/>
            <a:ext cx="10515600" cy="1325563"/>
          </a:xfrm>
        </p:spPr>
        <p:txBody>
          <a:bodyPr>
            <a:normAutofit/>
          </a:bodyPr>
          <a:lstStyle/>
          <a:p>
            <a:r>
              <a:rPr lang="es-ES" sz="6600" b="1" dirty="0" smtClean="0">
                <a:ln w="10160">
                  <a:solidFill>
                    <a:schemeClr val="accent6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rgbClr val="FFFF00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radley Hand ITC" panose="03070402050302030203" pitchFamily="66" charset="0"/>
              </a:rPr>
              <a:t>            </a:t>
            </a:r>
            <a:r>
              <a:rPr lang="es-ES" sz="6600" b="1" dirty="0" smtClean="0">
                <a:ln w="10160">
                  <a:solidFill>
                    <a:schemeClr val="accent6">
                      <a:lumMod val="60000"/>
                      <a:lumOff val="40000"/>
                    </a:schemeClr>
                  </a:solidFill>
                  <a:prstDash val="solid"/>
                </a:ln>
                <a:solidFill>
                  <a:schemeClr val="bg2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radley Hand ITC" panose="03070402050302030203" pitchFamily="66" charset="0"/>
              </a:rPr>
              <a:t> </a:t>
            </a:r>
            <a:r>
              <a:rPr lang="es-ES" sz="6600" b="1" dirty="0" smtClean="0">
                <a:ln w="10160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bg2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radley Hand ITC" panose="03070402050302030203" pitchFamily="66" charset="0"/>
              </a:rPr>
              <a:t>Ley de oferta</a:t>
            </a:r>
            <a:endParaRPr lang="es-ES" sz="6600" b="1" dirty="0">
              <a:ln w="10160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bg2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radley Hand ITC" panose="03070402050302030203" pitchFamily="66" charset="0"/>
            </a:endParaRPr>
          </a:p>
        </p:txBody>
      </p:sp>
      <p:sp>
        <p:nvSpPr>
          <p:cNvPr id="6" name="Marcador de contenido 5"/>
          <p:cNvSpPr>
            <a:spLocks noGrp="1"/>
          </p:cNvSpPr>
          <p:nvPr>
            <p:ph sz="half" idx="1"/>
          </p:nvPr>
        </p:nvSpPr>
        <p:spPr>
          <a:xfrm>
            <a:off x="1858335" y="1991581"/>
            <a:ext cx="4313864" cy="3777622"/>
          </a:xfrm>
        </p:spPr>
        <p:txBody>
          <a:bodyPr>
            <a:normAutofit/>
          </a:bodyPr>
          <a:lstStyle/>
          <a:p>
            <a:r>
              <a:rPr lang="es-ES" sz="2400" dirty="0">
                <a:latin typeface="Castellar" panose="020A0402060406010301" pitchFamily="18" charset="0"/>
              </a:rPr>
              <a:t>P</a:t>
            </a:r>
            <a:r>
              <a:rPr lang="es-ES" sz="2400" dirty="0" smtClean="0">
                <a:latin typeface="Castellar" panose="020A0402060406010301" pitchFamily="18" charset="0"/>
              </a:rPr>
              <a:t>roductos</a:t>
            </a:r>
            <a:endParaRPr lang="es-ES" sz="2400" dirty="0">
              <a:latin typeface="Castellar" panose="020A0402060406010301" pitchFamily="18" charset="0"/>
            </a:endParaRPr>
          </a:p>
        </p:txBody>
      </p:sp>
      <p:sp>
        <p:nvSpPr>
          <p:cNvPr id="7" name="Marcador de contenido 6"/>
          <p:cNvSpPr>
            <a:spLocks noGrp="1"/>
          </p:cNvSpPr>
          <p:nvPr>
            <p:ph sz="half" idx="2"/>
          </p:nvPr>
        </p:nvSpPr>
        <p:spPr/>
        <p:txBody>
          <a:bodyPr>
            <a:normAutofit/>
          </a:bodyPr>
          <a:lstStyle/>
          <a:p>
            <a:r>
              <a:rPr lang="es-ES" sz="2400" dirty="0" smtClean="0">
                <a:latin typeface="Castellar" panose="020A0402060406010301" pitchFamily="18" charset="0"/>
              </a:rPr>
              <a:t>Plano cartesiano</a:t>
            </a:r>
            <a:endParaRPr lang="es-ES" sz="2400" dirty="0">
              <a:latin typeface="Castellar" panose="020A0402060406010301" pitchFamily="18" charset="0"/>
            </a:endParaRPr>
          </a:p>
        </p:txBody>
      </p:sp>
      <p:pic>
        <p:nvPicPr>
          <p:cNvPr id="8" name="Imagen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6624" y="2731128"/>
            <a:ext cx="4452870" cy="3232597"/>
          </a:xfrm>
          <a:prstGeom prst="rect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</p:pic>
      <p:pic>
        <p:nvPicPr>
          <p:cNvPr id="9" name="Imagen 8"/>
          <p:cNvPicPr>
            <a:picLocks noChangeAspect="1"/>
          </p:cNvPicPr>
          <p:nvPr/>
        </p:nvPicPr>
        <p:blipFill rotWithShape="1">
          <a:blip r:embed="rId3"/>
          <a:srcRect l="48188" t="36187" r="13200" b="9220"/>
          <a:stretch/>
        </p:blipFill>
        <p:spPr>
          <a:xfrm>
            <a:off x="6608713" y="2967335"/>
            <a:ext cx="5477932" cy="3109771"/>
          </a:xfrm>
          <a:prstGeom prst="rect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</p:pic>
      <p:sp>
        <p:nvSpPr>
          <p:cNvPr id="11" name="Rectángulo 10"/>
          <p:cNvSpPr/>
          <p:nvPr/>
        </p:nvSpPr>
        <p:spPr>
          <a:xfrm>
            <a:off x="5215848" y="1349471"/>
            <a:ext cx="1912703" cy="769441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4400" b="1" cap="none" spc="0" dirty="0" smtClean="0">
                <a:ln w="10160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bg2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radley Hand ITC" panose="03070402050302030203" pitchFamily="66" charset="0"/>
              </a:rPr>
              <a:t>estudia</a:t>
            </a:r>
            <a:endParaRPr lang="es-ES" sz="4400" b="1" cap="none" spc="0" dirty="0">
              <a:ln w="10160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bg2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radley Hand ITC" panose="03070402050302030203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99544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circle/>
      </p:transition>
    </mc:Choice>
    <mc:Fallback xmlns="">
      <p:transition spd="slow">
        <p:circl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6" presetClass="entr" presetSubtype="0" fill="hold" grpId="0" nodeType="click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5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5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5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7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7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8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9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9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9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9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9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6" grpId="0" build="p"/>
      <p:bldP spid="7" grpId="0" build="p"/>
      <p:bldP spid="1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309576" y="235587"/>
            <a:ext cx="3505199" cy="976312"/>
          </a:xfrm>
        </p:spPr>
        <p:txBody>
          <a:bodyPr>
            <a:noAutofit/>
          </a:bodyPr>
          <a:lstStyle/>
          <a:p>
            <a:r>
              <a:rPr lang="es-ES" sz="3600" b="1" dirty="0" smtClean="0">
                <a:ln w="10160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bg2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radley Hand ITC" panose="03070402050302030203" pitchFamily="66" charset="0"/>
              </a:rPr>
              <a:t>Puntos importantes</a:t>
            </a:r>
            <a:endParaRPr lang="es-ES" sz="3600" b="1" dirty="0">
              <a:ln w="10160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bg2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radley Hand ITC" panose="03070402050302030203" pitchFamily="66" charset="0"/>
            </a:endParaRPr>
          </a:p>
        </p:txBody>
      </p:sp>
      <p:pic>
        <p:nvPicPr>
          <p:cNvPr id="11" name="Marcador de contenido 10"/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49186" t="36251" r="13455" b="9333"/>
          <a:stretch/>
        </p:blipFill>
        <p:spPr>
          <a:xfrm>
            <a:off x="5647306" y="2370108"/>
            <a:ext cx="3429000" cy="242218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12" name="Rectángulo 11"/>
          <p:cNvSpPr/>
          <p:nvPr/>
        </p:nvSpPr>
        <p:spPr>
          <a:xfrm>
            <a:off x="6613012" y="217185"/>
            <a:ext cx="4022255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160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bg2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radley Hand ITC" panose="03070402050302030203" pitchFamily="66" charset="0"/>
              </a:rPr>
              <a:t>herramientas</a:t>
            </a:r>
            <a:endParaRPr lang="es-ES" sz="5400" b="1" cap="none" spc="0" dirty="0">
              <a:ln w="10160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bg2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radley Hand ITC" panose="03070402050302030203" pitchFamily="66" charset="0"/>
            </a:endParaRPr>
          </a:p>
        </p:txBody>
      </p:sp>
      <p:sp>
        <p:nvSpPr>
          <p:cNvPr id="13" name="Flecha abajo 12"/>
          <p:cNvSpPr/>
          <p:nvPr/>
        </p:nvSpPr>
        <p:spPr>
          <a:xfrm rot="2057893">
            <a:off x="7160402" y="1387753"/>
            <a:ext cx="1274323" cy="7698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>
              <a:ln>
                <a:solidFill>
                  <a:schemeClr val="accent1">
                    <a:lumMod val="50000"/>
                  </a:schemeClr>
                </a:solidFill>
              </a:ln>
            </a:endParaRPr>
          </a:p>
        </p:txBody>
      </p:sp>
      <p:sp>
        <p:nvSpPr>
          <p:cNvPr id="15" name="Flecha abajo 14"/>
          <p:cNvSpPr/>
          <p:nvPr/>
        </p:nvSpPr>
        <p:spPr>
          <a:xfrm rot="19774356">
            <a:off x="9183497" y="1410188"/>
            <a:ext cx="1274323" cy="76985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pic>
        <p:nvPicPr>
          <p:cNvPr id="1026" name="Picture 2" descr="Resultado de imagen para curva de oferta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84332" y="2449718"/>
            <a:ext cx="2598719" cy="2209531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" name="Proceso 15"/>
          <p:cNvSpPr/>
          <p:nvPr/>
        </p:nvSpPr>
        <p:spPr>
          <a:xfrm>
            <a:off x="1503122" y="1556167"/>
            <a:ext cx="3945699" cy="1787103"/>
          </a:xfrm>
          <a:prstGeom prst="flowChartProcess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s-ES" sz="1400" dirty="0" smtClean="0">
                <a:ln>
                  <a:solidFill>
                    <a:schemeClr val="accent1">
                      <a:lumMod val="50000"/>
                    </a:schemeClr>
                  </a:solidFill>
                </a:ln>
              </a:rPr>
              <a:t>La ley de oferta declara que un precio mas alto </a:t>
            </a:r>
          </a:p>
          <a:p>
            <a:pPr algn="ctr"/>
            <a:r>
              <a:rPr lang="es-ES" sz="1400" dirty="0" smtClean="0">
                <a:ln>
                  <a:solidFill>
                    <a:schemeClr val="accent1">
                      <a:lumMod val="50000"/>
                    </a:schemeClr>
                  </a:solidFill>
                </a:ln>
              </a:rPr>
              <a:t>conduce a un aumento de la oferta y un precio menor a una disminución de la oferta.</a:t>
            </a:r>
            <a:endParaRPr lang="es-ES" sz="1400" dirty="0">
              <a:ln>
                <a:solidFill>
                  <a:schemeClr val="accent1">
                    <a:lumMod val="50000"/>
                  </a:schemeClr>
                </a:solidFill>
              </a:ln>
            </a:endParaRPr>
          </a:p>
        </p:txBody>
      </p:sp>
      <p:sp>
        <p:nvSpPr>
          <p:cNvPr id="17" name="Flecha abajo 16"/>
          <p:cNvSpPr/>
          <p:nvPr/>
        </p:nvSpPr>
        <p:spPr>
          <a:xfrm rot="17628910">
            <a:off x="4074141" y="3555094"/>
            <a:ext cx="1189972" cy="801665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ES"/>
          </a:p>
        </p:txBody>
      </p:sp>
      <p:sp>
        <p:nvSpPr>
          <p:cNvPr id="3" name="2 Rectángulo"/>
          <p:cNvSpPr/>
          <p:nvPr/>
        </p:nvSpPr>
        <p:spPr>
          <a:xfrm rot="19548543">
            <a:off x="616504" y="4759522"/>
            <a:ext cx="2896947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0" cap="none" spc="0" dirty="0" smtClean="0">
                <a:ln w="1841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radley Hand ITC" pitchFamily="66" charset="0"/>
              </a:rPr>
              <a:t>Relación</a:t>
            </a:r>
            <a:r>
              <a:rPr lang="es-ES" sz="5400" b="0" cap="none" spc="0" dirty="0" smtClean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rPr>
              <a:t> </a:t>
            </a:r>
            <a:endParaRPr lang="es-ES" sz="5400" b="0" cap="none" spc="0" dirty="0">
              <a:ln w="18415" cmpd="sng">
                <a:solidFill>
                  <a:srgbClr val="FFFFFF"/>
                </a:solidFill>
                <a:prstDash val="solid"/>
              </a:ln>
              <a:solidFill>
                <a:srgbClr val="FFFFFF"/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</a:endParaRPr>
          </a:p>
        </p:txBody>
      </p:sp>
      <p:sp>
        <p:nvSpPr>
          <p:cNvPr id="4" name="3 Rectángulo"/>
          <p:cNvSpPr/>
          <p:nvPr/>
        </p:nvSpPr>
        <p:spPr>
          <a:xfrm rot="676303">
            <a:off x="3134040" y="5272832"/>
            <a:ext cx="7933583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dirty="0" smtClean="0">
                <a:ln w="1841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radley Hand ITC" pitchFamily="66" charset="0"/>
              </a:rPr>
              <a:t>«C. ofertadas</a:t>
            </a:r>
            <a:r>
              <a:rPr lang="es-ES" sz="5400" b="0" cap="none" spc="0" dirty="0" smtClean="0">
                <a:ln w="1841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radley Hand ITC" pitchFamily="66" charset="0"/>
              </a:rPr>
              <a:t>» y el « precio»</a:t>
            </a:r>
            <a:endParaRPr lang="es-ES" sz="5400" b="0" cap="none" spc="0" dirty="0">
              <a:ln w="18415" cmpd="sng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radley Hand ITC" pitchFamily="6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5226928"/>
      </p:ext>
    </p:extLst>
  </p:cSld>
  <p:clrMapOvr>
    <a:masterClrMapping/>
  </p:clrMapOvr>
  <p:transition spd="med">
    <p:pull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1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heel(1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3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3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49" dur="2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10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2" grpId="0"/>
      <p:bldP spid="13" grpId="0" animBg="1"/>
      <p:bldP spid="15" grpId="0" animBg="1"/>
      <p:bldP spid="16" grpId="0" animBg="1"/>
      <p:bldP spid="17" grpId="0" animBg="1"/>
      <p:bldP spid="3" grpId="0"/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Resultado de imagen para curva de oferta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73552" y="2175933"/>
            <a:ext cx="1905000" cy="1905000"/>
          </a:xfrm>
          <a:prstGeom prst="rect">
            <a:avLst/>
          </a:prstGeom>
          <a:noFill/>
          <a:ln w="38100"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Marcador de contenido 10"/>
          <p:cNvPicPr>
            <a:picLocks noChangeAspect="1"/>
          </p:cNvPicPr>
          <p:nvPr/>
        </p:nvPicPr>
        <p:blipFill rotWithShape="1">
          <a:blip r:embed="rId3"/>
          <a:srcRect l="49186" t="36251" r="13455" b="9333"/>
          <a:stretch/>
        </p:blipFill>
        <p:spPr>
          <a:xfrm>
            <a:off x="1857271" y="2175933"/>
            <a:ext cx="3429000" cy="2422186"/>
          </a:xfrm>
          <a:prstGeom prst="rect">
            <a:avLst/>
          </a:prstGeom>
          <a:ln w="38100">
            <a:solidFill>
              <a:schemeClr val="accent1"/>
            </a:solidFill>
          </a:ln>
        </p:spPr>
      </p:pic>
      <p:sp>
        <p:nvSpPr>
          <p:cNvPr id="4" name="CuadroTexto 3"/>
          <p:cNvSpPr txBox="1"/>
          <p:nvPr/>
        </p:nvSpPr>
        <p:spPr>
          <a:xfrm>
            <a:off x="2138405" y="1204944"/>
            <a:ext cx="350192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Es el plano que muestra la cantidad ofrecida en los diferentes precios</a:t>
            </a:r>
            <a:endParaRPr lang="es-ES" dirty="0"/>
          </a:p>
        </p:txBody>
      </p:sp>
      <p:sp>
        <p:nvSpPr>
          <p:cNvPr id="6" name="CuadroTexto 5"/>
          <p:cNvSpPr txBox="1"/>
          <p:nvPr/>
        </p:nvSpPr>
        <p:spPr>
          <a:xfrm>
            <a:off x="7176806" y="1252603"/>
            <a:ext cx="316908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Es un gráfico que muestra la cantidad ofrecida en diferentes precios</a:t>
            </a:r>
            <a:endParaRPr lang="es-ES" dirty="0"/>
          </a:p>
        </p:txBody>
      </p:sp>
      <p:sp>
        <p:nvSpPr>
          <p:cNvPr id="9" name="Rectángulo 8"/>
          <p:cNvSpPr/>
          <p:nvPr/>
        </p:nvSpPr>
        <p:spPr>
          <a:xfrm>
            <a:off x="1633019" y="392348"/>
            <a:ext cx="3877505" cy="646331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es-ES" sz="3600" b="1" cap="none" spc="0" dirty="0" smtClean="0">
                <a:ln w="10160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bg2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radley Hand ITC" panose="03070402050302030203" pitchFamily="66" charset="0"/>
              </a:rPr>
              <a:t>Plano cartesiano</a:t>
            </a:r>
            <a:endParaRPr lang="es-ES" sz="3600" b="1" cap="none" spc="0" dirty="0">
              <a:ln w="10160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bg2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radley Hand ITC" panose="03070402050302030203" pitchFamily="66" charset="0"/>
            </a:endParaRPr>
          </a:p>
        </p:txBody>
      </p:sp>
      <p:sp>
        <p:nvSpPr>
          <p:cNvPr id="10" name="Rectángulo 9"/>
          <p:cNvSpPr/>
          <p:nvPr/>
        </p:nvSpPr>
        <p:spPr>
          <a:xfrm>
            <a:off x="6247223" y="462355"/>
            <a:ext cx="4557658" cy="92333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s-ES" sz="5400" b="1" cap="none" spc="0" dirty="0" smtClean="0">
                <a:ln w="10160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bg2"/>
                </a:solidFill>
                <a:effectLst>
                  <a:outerShdw blurRad="38100" dist="22860" dir="5400000" algn="tl" rotWithShape="0">
                    <a:srgbClr val="000000">
                      <a:alpha val="30000"/>
                    </a:srgbClr>
                  </a:outerShdw>
                </a:effectLst>
                <a:latin typeface="Bradley Hand ITC" panose="03070402050302030203" pitchFamily="66" charset="0"/>
              </a:rPr>
              <a:t>Curva de oferta</a:t>
            </a:r>
            <a:endParaRPr lang="es-ES" sz="5400" b="1" cap="none" spc="0" dirty="0">
              <a:ln w="10160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bg2"/>
              </a:solidFill>
              <a:effectLst>
                <a:outerShdw blurRad="38100" dist="22860" dir="5400000" algn="tl" rotWithShape="0">
                  <a:srgbClr val="000000">
                    <a:alpha val="30000"/>
                  </a:srgbClr>
                </a:outerShdw>
              </a:effectLst>
              <a:latin typeface="Bradley Hand ITC" panose="03070402050302030203" pitchFamily="66" charset="0"/>
            </a:endParaRPr>
          </a:p>
        </p:txBody>
      </p:sp>
      <p:sp>
        <p:nvSpPr>
          <p:cNvPr id="13" name="Marcador de contenido 12"/>
          <p:cNvSpPr>
            <a:spLocks noGrp="1"/>
          </p:cNvSpPr>
          <p:nvPr>
            <p:ph idx="1"/>
          </p:nvPr>
        </p:nvSpPr>
        <p:spPr>
          <a:xfrm>
            <a:off x="1324083" y="4811868"/>
            <a:ext cx="8915400" cy="3777622"/>
          </a:xfrm>
        </p:spPr>
        <p:txBody>
          <a:bodyPr/>
          <a:lstStyle/>
          <a:p>
            <a:r>
              <a:rPr lang="es-ES" dirty="0" smtClean="0"/>
              <a:t>Se crea la curva de oferta graficando los puntos  de el plano y conectándolos la pendiente  ascendente de la ley de oferta ilustran la ley de oferta, un mayor precio conduce a una mayor cantidad  ofrecida y viceversa.</a:t>
            </a:r>
          </a:p>
          <a:p>
            <a:r>
              <a:rPr lang="es-ES" dirty="0" smtClean="0"/>
              <a:t>La curva de oferta tiene pendiente positiva</a:t>
            </a:r>
          </a:p>
          <a:p>
            <a:r>
              <a:rPr lang="es-ES" dirty="0" smtClean="0"/>
              <a:t>Varia de acuerdo con el producto , se inclinan de izquierda a derecha</a:t>
            </a:r>
            <a:endParaRPr lang="es-ES" dirty="0"/>
          </a:p>
        </p:txBody>
      </p:sp>
      <p:sp>
        <p:nvSpPr>
          <p:cNvPr id="2" name="1 Flecha abajo"/>
          <p:cNvSpPr/>
          <p:nvPr/>
        </p:nvSpPr>
        <p:spPr>
          <a:xfrm rot="1622457">
            <a:off x="5963478" y="3943441"/>
            <a:ext cx="1213328" cy="787584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4703565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6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7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8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9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10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34" presetClass="emph" presetSubtype="0" fill="hold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Motion origin="layout" path="M 0.0 0.0 L 0.0 -0.07213" pathEditMode="relative" ptsTypes="">
                                      <p:cBhvr>
                                        <p:cTn id="18" dur="250" accel="50000" decel="50000" autoRev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  <p:animRot by="1500000">
                                      <p:cBhvr>
                                        <p:cTn id="19" dur="125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0" dur="125" fill="hold">
                                          <p:stCondLst>
                                            <p:cond delay="125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1500000">
                                      <p:cBhvr>
                                        <p:cTn id="21" dur="125" fill="hold">
                                          <p:stCondLst>
                                            <p:cond delay="25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500000">
                                      <p:cBhvr>
                                        <p:cTn id="22" dur="125" fill="hold">
                                          <p:stCondLst>
                                            <p:cond delay="375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5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6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7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8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6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59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60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1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62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3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64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65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66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7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7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7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8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8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8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8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 smtClean="0">
                <a:ln w="18415" cmpd="sng">
                  <a:solidFill>
                    <a:schemeClr val="accent1">
                      <a:lumMod val="50000"/>
                    </a:schemeClr>
                  </a:solidFill>
                  <a:prstDash val="solid"/>
                </a:ln>
                <a:solidFill>
                  <a:schemeClr val="tx2">
                    <a:lumMod val="20000"/>
                    <a:lumOff val="80000"/>
                  </a:schemeClr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  <a:latin typeface="Bradley Hand ITC" pitchFamily="66" charset="0"/>
              </a:rPr>
              <a:t>Diferencia entre oferta y cantidad ofrecida</a:t>
            </a:r>
            <a:endParaRPr lang="es-PE" dirty="0">
              <a:ln w="18415" cmpd="sng">
                <a:solidFill>
                  <a:schemeClr val="accent1">
                    <a:lumMod val="50000"/>
                  </a:schemeClr>
                </a:solidFill>
                <a:prstDash val="solid"/>
              </a:ln>
              <a:solidFill>
                <a:schemeClr val="tx2">
                  <a:lumMod val="20000"/>
                  <a:lumOff val="80000"/>
                </a:schemeClr>
              </a:solidFill>
              <a:effectLst>
                <a:outerShdw blurRad="63500" dir="3600000" algn="tl" rotWithShape="0">
                  <a:srgbClr val="000000">
                    <a:alpha val="70000"/>
                  </a:srgbClr>
                </a:outerShdw>
              </a:effectLst>
              <a:latin typeface="Bradley Hand ITC" pitchFamily="66" charset="0"/>
            </a:endParaRPr>
          </a:p>
        </p:txBody>
      </p:sp>
      <p:sp>
        <p:nvSpPr>
          <p:cNvPr id="5" name="4 Marcador de contenido"/>
          <p:cNvSpPr>
            <a:spLocks noGrp="1"/>
          </p:cNvSpPr>
          <p:nvPr>
            <p:ph idx="1"/>
          </p:nvPr>
        </p:nvSpPr>
        <p:spPr>
          <a:xfrm>
            <a:off x="2410308" y="1557131"/>
            <a:ext cx="8915400" cy="3777622"/>
          </a:xfrm>
        </p:spPr>
        <p:txBody>
          <a:bodyPr/>
          <a:lstStyle/>
          <a:p>
            <a:r>
              <a:rPr lang="es-ES" dirty="0" smtClean="0"/>
              <a:t> Habla de la relación entre varios   precios  y las cantidades ofrecidas a  esos precios se puede ilustrar en el plano cartesiano</a:t>
            </a:r>
          </a:p>
          <a:p>
            <a:r>
              <a:rPr lang="es-ES" dirty="0" smtClean="0"/>
              <a:t>Están hablando de un solo punto  de la curva  de oferta o una cantidad de el plano                                                                                                                                                                                                                                     </a:t>
            </a:r>
            <a:endParaRPr lang="es-PE" dirty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81939" y="3428206"/>
            <a:ext cx="3498850" cy="24939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8938237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2405268" y="655620"/>
            <a:ext cx="8911687" cy="1280890"/>
          </a:xfrm>
        </p:spPr>
        <p:txBody>
          <a:bodyPr>
            <a:normAutofit/>
          </a:bodyPr>
          <a:lstStyle/>
          <a:p>
            <a:r>
              <a:rPr lang="es-ES" sz="4400" dirty="0" smtClean="0">
                <a:ln>
                  <a:solidFill>
                    <a:schemeClr val="accent2">
                      <a:lumMod val="50000"/>
                    </a:schemeClr>
                  </a:solidFill>
                </a:ln>
                <a:solidFill>
                  <a:schemeClr val="accent2">
                    <a:lumMod val="60000"/>
                    <a:lumOff val="40000"/>
                  </a:schemeClr>
                </a:solidFill>
                <a:latin typeface="Century Schoolbook" pitchFamily="18" charset="0"/>
              </a:rPr>
              <a:t>Elementos de la ley de oferta</a:t>
            </a:r>
            <a:endParaRPr lang="es-PE" sz="4400" dirty="0">
              <a:ln>
                <a:solidFill>
                  <a:schemeClr val="accent2">
                    <a:lumMod val="50000"/>
                  </a:schemeClr>
                </a:solidFill>
              </a:ln>
              <a:solidFill>
                <a:schemeClr val="accent2">
                  <a:lumMod val="60000"/>
                  <a:lumOff val="40000"/>
                </a:schemeClr>
              </a:solidFill>
              <a:latin typeface="Century Schoolbook" pitchFamily="18" charset="0"/>
            </a:endParaRPr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2357300" y="2272748"/>
            <a:ext cx="9834700" cy="3777622"/>
          </a:xfrm>
        </p:spPr>
        <p:txBody>
          <a:bodyPr/>
          <a:lstStyle/>
          <a:p>
            <a:r>
              <a:rPr lang="es-ES" dirty="0" smtClean="0"/>
              <a:t>Producto total      (PT)</a:t>
            </a:r>
          </a:p>
          <a:p>
            <a:r>
              <a:rPr lang="es-ES" dirty="0" smtClean="0"/>
              <a:t>Precio del bien          (Px)</a:t>
            </a:r>
            <a:endParaRPr lang="es-ES" sz="800" dirty="0" smtClean="0"/>
          </a:p>
          <a:p>
            <a:r>
              <a:rPr lang="es-ES" dirty="0" smtClean="0"/>
              <a:t>Cantidad ofertada  (Q </a:t>
            </a:r>
            <a:r>
              <a:rPr lang="es-ES" sz="1600" dirty="0" smtClean="0"/>
              <a:t>x)</a:t>
            </a:r>
            <a:endParaRPr lang="es-ES" dirty="0" smtClean="0"/>
          </a:p>
          <a:p>
            <a:r>
              <a:rPr lang="es-ES" dirty="0" smtClean="0"/>
              <a:t>Tecnología                   (T)</a:t>
            </a:r>
          </a:p>
          <a:p>
            <a:r>
              <a:rPr lang="es-ES" dirty="0" smtClean="0"/>
              <a:t> Costo De Producción (CP)</a:t>
            </a:r>
            <a:endParaRPr lang="es-PE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72810" y="1751844"/>
            <a:ext cx="4959626" cy="310956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" name="4 CuadroTexto"/>
          <p:cNvSpPr txBox="1"/>
          <p:nvPr/>
        </p:nvSpPr>
        <p:spPr>
          <a:xfrm>
            <a:off x="2405268" y="1751844"/>
            <a:ext cx="32401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 smtClean="0"/>
              <a:t> TENEMOS: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23584298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5" grpId="0"/>
    </p:bldLst>
  </p:timing>
</p:sld>
</file>

<file path=ppt/theme/theme1.xml><?xml version="1.0" encoding="utf-8"?>
<a:theme xmlns:a="http://schemas.openxmlformats.org/drawingml/2006/main" name="Espiral">
  <a:themeElements>
    <a:clrScheme name="Papel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Espiral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381</TotalTime>
  <Words>224</Words>
  <Application>Microsoft Office PowerPoint</Application>
  <PresentationFormat>Panorámica</PresentationFormat>
  <Paragraphs>28</Paragraphs>
  <Slides>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3" baseType="lpstr">
      <vt:lpstr>Arial</vt:lpstr>
      <vt:lpstr>Bradley Hand ITC</vt:lpstr>
      <vt:lpstr>Castellar</vt:lpstr>
      <vt:lpstr>Century Gothic</vt:lpstr>
      <vt:lpstr>Century Schoolbook</vt:lpstr>
      <vt:lpstr>Wingdings 3</vt:lpstr>
      <vt:lpstr>Espiral</vt:lpstr>
      <vt:lpstr>   Ley  de  oferta</vt:lpstr>
      <vt:lpstr>             Ley de oferta</vt:lpstr>
      <vt:lpstr>Puntos importantes</vt:lpstr>
      <vt:lpstr>Presentación de PowerPoint</vt:lpstr>
      <vt:lpstr>Diferencia entre oferta y cantidad ofrecida</vt:lpstr>
      <vt:lpstr>Elementos de la ley de oferta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Ley de oferta</dc:title>
  <dc:creator>pc_09</dc:creator>
  <cp:lastModifiedBy>HENRY DEL CARPIO</cp:lastModifiedBy>
  <cp:revision>33</cp:revision>
  <dcterms:created xsi:type="dcterms:W3CDTF">2018-09-09T22:40:13Z</dcterms:created>
  <dcterms:modified xsi:type="dcterms:W3CDTF">2020-05-01T23:04:55Z</dcterms:modified>
</cp:coreProperties>
</file>